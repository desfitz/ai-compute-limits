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10698480" cy="1097280"/>
          </a:xfrm>
          <a:prstGeom prst="rect">
            <a:avLst/>
          </a:prstGeom>
          <a:noFill/>
          <a:ln/>
        </p:spPr>
        <p:txBody>
          <a:bodyPr wrap="square" lIns="0" tIns="0" rIns="0" bIns="0" rtlCol="0" anchor="ctr"/>
          <a:lstStyle/>
          <a:p>
            <a:pPr indent="0" marL="0">
              <a:buNone/>
            </a:pPr>
            <a:r>
              <a:rPr lang="en-US" sz="4400" b="1" dirty="0">
                <a:solidFill>
                  <a:schemeClr val="tx2"/>
                </a:solidFill>
              </a:rPr>
              <a:t>Will the AI build-out pay for itself?</a:t>
            </a:r>
            <a:endParaRPr lang="en-US" sz="4400" dirty="0"/>
          </a:p>
        </p:txBody>
      </p:sp>
      <p:sp>
        <p:nvSpPr>
          <p:cNvPr id="3" name="Text 1"/>
          <p:cNvSpPr txBox="1"/>
          <p:nvPr/>
        </p:nvSpPr>
        <p:spPr>
          <a:xfrm>
            <a:off x="731520" y="2560320"/>
            <a:ext cx="10698480" cy="548640"/>
          </a:xfrm>
          <a:prstGeom prst="rect">
            <a:avLst/>
          </a:prstGeom>
          <a:noFill/>
          <a:ln/>
        </p:spPr>
        <p:txBody>
          <a:bodyPr wrap="square" lIns="0" tIns="0" rIns="0" bIns="0" rtlCol="0" anchor="ctr"/>
          <a:lstStyle/>
          <a:p>
            <a:pPr indent="0" marL="0">
              <a:buNone/>
            </a:pPr>
            <a:r>
              <a:rPr lang="en-US" sz="2400" dirty="0">
                <a:solidFill>
                  <a:schemeClr val="accent2"/>
                </a:solidFill>
              </a:rPr>
              <a:t>A Fermi estimate, in thirteen slides</a:t>
            </a:r>
            <a:endParaRPr lang="en-US" sz="2400" dirty="0"/>
          </a:p>
        </p:txBody>
      </p:sp>
      <p:sp>
        <p:nvSpPr>
          <p:cNvPr id="4" name="Text 2"/>
          <p:cNvSpPr txBox="1"/>
          <p:nvPr/>
        </p:nvSpPr>
        <p:spPr>
          <a:xfrm>
            <a:off x="731520" y="3657600"/>
            <a:ext cx="10698480" cy="1097280"/>
          </a:xfrm>
          <a:prstGeom prst="rect">
            <a:avLst/>
          </a:prstGeom>
          <a:noFill/>
          <a:ln/>
        </p:spPr>
        <p:txBody>
          <a:bodyPr wrap="square" lIns="0" tIns="0" rIns="0" bIns="0" rtlCol="0" anchor="ctr"/>
          <a:lstStyle/>
          <a:p>
            <a:pPr indent="0" marL="0">
              <a:buNone/>
            </a:pPr>
            <a:r>
              <a:rPr lang="en-US" sz="1600" b="1" dirty="0">
                <a:solidFill>
                  <a:schemeClr val="tx1"/>
                </a:solidFill>
              </a:rPr>
              <a:t>Desmond Fitzpatrick</a:t>
            </a:r>
            <a:endParaRPr lang="en-US" sz="1600" dirty="0"/>
          </a:p>
          <a:p>
            <a:pPr indent="0" marL="0">
              <a:buNone/>
            </a:pPr>
            <a:r>
              <a:rPr lang="en-US" sz="1600" dirty="0">
                <a:solidFill>
                  <a:schemeClr val="tx1"/>
                </a:solidFill>
              </a:rPr>
              <a:t>Retired, IBM Systems   |   Founder, Nvara.ai</a:t>
            </a:r>
            <a:endParaRPr lang="en-US" sz="1600" dirty="0"/>
          </a:p>
          <a:p>
            <a:pPr indent="0" marL="0">
              <a:buNone/>
            </a:pPr>
            <a:r>
              <a:rPr lang="en-US" sz="1600" dirty="0">
                <a:solidFill>
                  <a:schemeClr val="tx1"/>
                </a:solidFill>
              </a:rPr>
              <a:t>desmond.fitzpatrick@nvara.ai   |   ORCID 0009-0001-0534-2793</a:t>
            </a:r>
            <a:endParaRPr lang="en-US" sz="1600" dirty="0"/>
          </a:p>
        </p:txBody>
      </p:sp>
      <p:sp>
        <p:nvSpPr>
          <p:cNvPr id="5" name="Text 3"/>
          <p:cNvSpPr txBox="1"/>
          <p:nvPr/>
        </p:nvSpPr>
        <p:spPr>
          <a:xfrm>
            <a:off x="731520" y="5120640"/>
            <a:ext cx="10698480" cy="914400"/>
          </a:xfrm>
          <a:prstGeom prst="rect">
            <a:avLst/>
          </a:prstGeom>
          <a:noFill/>
          <a:ln/>
        </p:spPr>
        <p:txBody>
          <a:bodyPr wrap="square" lIns="0" tIns="0" rIns="0" bIns="0" rtlCol="0" anchor="ctr"/>
          <a:lstStyle/>
          <a:p>
            <a:pPr indent="0" marL="0">
              <a:buNone/>
            </a:pPr>
            <a:r>
              <a:rPr lang="en-US" sz="1200" dirty="0">
                <a:solidFill>
                  <a:schemeClr val="accent3"/>
                </a:solidFill>
              </a:rPr>
              <a:t>This is a probability assessment, not a forecast: the most likely outcome at the inputs we could source, and what would move it. It is the short version of a 106-page paper whose every number sits in a public register anyone can challenge. If a slide here and the paper disagree, the paper is right. Paper, model and data: doi.org/10.5281/zenodo.23406476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1. The question</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Will the revenue arrive to pay for the build-out?</a:t>
            </a:r>
            <a:endParaRPr lang="en-US" sz="1600" dirty="0"/>
          </a:p>
        </p:txBody>
      </p:sp>
      <p:sp>
        <p:nvSpPr>
          <p:cNvPr id="4" name="Text 2"/>
          <p:cNvSpPr txBox="1"/>
          <p:nvPr/>
        </p:nvSpPr>
        <p:spPr>
          <a:xfrm>
            <a:off x="548640" y="1554480"/>
            <a:ext cx="4937760" cy="41148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Five companies — Microsoft, Alphabet, Amazon, Meta and Oracle — are spending about $780 billion this year on AI data centers, after $448 billion last year. The question is not whether AI is useful. It is whether the revenue will arrive, fast enough, to pay for the buildings and the chips.</a:t>
            </a:r>
            <a:endParaRPr lang="en-US" sz="1800" dirty="0"/>
          </a:p>
        </p:txBody>
      </p:sp>
      <p:pic>
        <p:nvPicPr>
          <p:cNvPr id="5" name="Image 0" descr="figc/f1_capex.png">    </p:cNvPr>
          <p:cNvPicPr>
            <a:picLocks noChangeAspect="1"/>
          </p:cNvPicPr>
          <p:nvPr/>
        </p:nvPicPr>
        <p:blipFill>
          <a:blip r:embed="rId1"/>
          <a:srcRect l="0" r="0" t="0" b="0"/>
          <a:stretch/>
        </p:blipFill>
        <p:spPr>
          <a:xfrm>
            <a:off x="5852160" y="1554480"/>
            <a:ext cx="5760720" cy="4206240"/>
          </a:xfrm>
          <a:prstGeom prst="rect">
            <a:avLst/>
          </a:prstGeom>
        </p:spPr>
      </p:pic>
      <p:sp>
        <p:nvSpPr>
          <p:cNvPr id="6" name="Text 3"/>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Capex from company filings via Epoch AI; 2026 from the companies' own July guidance. Street consensus for 2027 is higher still, about $1.05 trillion.</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2. How we estimate: the Fermi way</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A long way on bounded factors; only the big uncertainties left as a tail</a:t>
            </a:r>
            <a:endParaRPr lang="en-US" sz="1600" dirty="0"/>
          </a:p>
        </p:txBody>
      </p:sp>
      <p:sp>
        <p:nvSpPr>
          <p:cNvPr id="4" name="Text 2"/>
          <p:cNvSpPr txBox="1"/>
          <p:nvPr/>
        </p:nvSpPr>
        <p:spPr>
          <a:xfrm>
            <a:off x="548640" y="1554480"/>
            <a:ext cx="5669280" cy="438912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Fermi asked how many piano tuners Chicago had and got within a factor of two by chaining things he could bound: people, households, pianos per household, tunings a year, tunings a tuner can do. No single factor was known well. The product was, because the errors cancel rather than compound.</a:t>
            </a:r>
            <a:endParaRPr lang="en-US" sz="1500" dirty="0"/>
          </a:p>
          <a:p>
            <a:pPr indent="0" marL="0">
              <a:spcAft>
                <a:spcPts val="600"/>
              </a:spcAft>
              <a:buNone/>
            </a:pPr>
            <a:endParaRPr lang="en-US" sz="1500" dirty="0"/>
          </a:p>
          <a:p>
            <a:pPr indent="0" marL="0">
              <a:spcAft>
                <a:spcPts val="600"/>
              </a:spcAft>
              <a:buNone/>
            </a:pPr>
            <a:r>
              <a:rPr lang="en-US" sz="1500" dirty="0">
                <a:solidFill>
                  <a:schemeClr val="tx1"/>
                </a:solidFill>
              </a:rPr>
              <a:t>This paper does the same. The carry is a chain of factors each known to tens of percent (capex, silicon share, lives, power, cost of capital). Demand is fifteen such chains. Where an input carried too much of the uncertainty, we split it into sourced pieces — nineteen times — until the spread fell from 286 to 104 and only two big uncertainties were left: how fast firms actually adopt, and how big the office-assistant market gets. Those two are the tail, and the probability map is drawn over them.</a:t>
            </a:r>
            <a:endParaRPr lang="en-US" sz="1500" dirty="0"/>
          </a:p>
        </p:txBody>
      </p:sp>
      <p:pic>
        <p:nvPicPr>
          <p:cNvPr id="5" name="Image 0" descr="figc/f7_tornado.png">    </p:cNvPr>
          <p:cNvPicPr>
            <a:picLocks noChangeAspect="1"/>
          </p:cNvPicPr>
          <p:nvPr/>
        </p:nvPicPr>
        <p:blipFill>
          <a:blip r:embed="rId1"/>
          <a:srcRect l="0" r="0" t="0" b="0"/>
          <a:stretch/>
        </p:blipFill>
        <p:spPr>
          <a:xfrm>
            <a:off x="6400800" y="1463040"/>
            <a:ext cx="5212080" cy="4480560"/>
          </a:xfrm>
          <a:prstGeom prst="rect">
            <a:avLst/>
          </a:prstGeom>
        </p:spPr>
      </p:pic>
      <p:sp>
        <p:nvSpPr>
          <p:cNvPr id="6" name="Text 3"/>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Sections 2 and 9. The chart ranks every input by how much it moves the 2030 result; the long bars are the tail.</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3. What it costs every year</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The carry: wear, running costs, and the return on the money</a:t>
            </a:r>
            <a:endParaRPr lang="en-US" sz="1600" dirty="0"/>
          </a:p>
        </p:txBody>
      </p:sp>
      <p:sp>
        <p:nvSpPr>
          <p:cNvPr id="4" name="Text 2"/>
          <p:cNvSpPr txBox="1"/>
          <p:nvPr/>
        </p:nvSpPr>
        <p:spPr>
          <a:xfrm>
            <a:off x="548640" y="1554480"/>
            <a:ext cx="4937760" cy="20116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A data center is not paid for when it is bought. Each year it costs its owner three things: the chips wearing out (about four years), running the building (power, people, maintenance), and the return the money could have earned elsewhere. We call that yearly cost the carry.</a:t>
            </a:r>
            <a:endParaRPr lang="en-US" sz="1600" dirty="0"/>
          </a:p>
        </p:txBody>
      </p:sp>
      <p:sp>
        <p:nvSpPr>
          <p:cNvPr id="5" name="Text 3"/>
          <p:cNvSpPr txBox="1"/>
          <p:nvPr/>
        </p:nvSpPr>
        <p:spPr>
          <a:xfrm>
            <a:off x="548640" y="3657600"/>
            <a:ext cx="4937760" cy="822960"/>
          </a:xfrm>
          <a:prstGeom prst="rect">
            <a:avLst/>
          </a:prstGeom>
          <a:noFill/>
          <a:ln/>
        </p:spPr>
        <p:txBody>
          <a:bodyPr wrap="square" lIns="0" tIns="0" rIns="0" bIns="0" rtlCol="0" anchor="ctr"/>
          <a:lstStyle/>
          <a:p>
            <a:pPr algn="ctr" indent="0" marL="0">
              <a:buNone/>
            </a:pPr>
            <a:r>
              <a:rPr lang="en-US" sz="4000" b="1" dirty="0">
                <a:solidFill>
                  <a:schemeClr val="accent1"/>
                </a:solidFill>
              </a:rPr>
              <a:t>$390B → $725B</a:t>
            </a:r>
            <a:endParaRPr lang="en-US" sz="4000" dirty="0"/>
          </a:p>
        </p:txBody>
      </p:sp>
      <p:sp>
        <p:nvSpPr>
          <p:cNvPr id="6" name="Text 4"/>
          <p:cNvSpPr txBox="1"/>
          <p:nvPr/>
        </p:nvSpPr>
        <p:spPr>
          <a:xfrm>
            <a:off x="548640" y="4480560"/>
            <a:ext cx="4937760" cy="548640"/>
          </a:xfrm>
          <a:prstGeom prst="rect">
            <a:avLst/>
          </a:prstGeom>
          <a:noFill/>
          <a:ln/>
        </p:spPr>
        <p:txBody>
          <a:bodyPr wrap="square" lIns="0" tIns="0" rIns="0" bIns="0" rtlCol="0" anchor="ctr"/>
          <a:lstStyle/>
          <a:p>
            <a:pPr algn="ctr" indent="0" marL="0">
              <a:buNone/>
            </a:pPr>
            <a:r>
              <a:rPr lang="en-US" sz="1300" dirty="0">
                <a:solidFill>
                  <a:schemeClr val="accent3"/>
                </a:solidFill>
              </a:rPr>
              <a:t>carry per year, 2027 to 2030, if spending merely stays flat</a:t>
            </a:r>
            <a:endParaRPr lang="en-US" sz="1300" dirty="0"/>
          </a:p>
        </p:txBody>
      </p:sp>
      <p:sp>
        <p:nvSpPr>
          <p:cNvPr id="7" name="Text 5"/>
          <p:cNvSpPr txBox="1"/>
          <p:nvPr/>
        </p:nvSpPr>
        <p:spPr>
          <a:xfrm>
            <a:off x="548640" y="5120640"/>
            <a:ext cx="4937760" cy="822960"/>
          </a:xfrm>
          <a:prstGeom prst="rect">
            <a:avLst/>
          </a:prstGeom>
          <a:noFill/>
          <a:ln/>
        </p:spPr>
        <p:txBody>
          <a:bodyPr wrap="square" lIns="0" tIns="0" rIns="0" bIns="0" rtlCol="0" anchor="t"/>
          <a:lstStyle/>
          <a:p>
            <a:pPr indent="0" marL="0">
              <a:spcAft>
                <a:spcPts val="600"/>
              </a:spcAft>
              <a:buNone/>
            </a:pPr>
            <a:r>
              <a:rPr lang="en-US" sz="1400" dirty="0">
                <a:solidFill>
                  <a:schemeClr val="accent3"/>
                </a:solidFill>
              </a:rPr>
              <a:t>It keeps rising even if spending stops rising: this year's chips are still on the books when next year's arrive.</a:t>
            </a:r>
            <a:endParaRPr lang="en-US" sz="1400" dirty="0"/>
          </a:p>
        </p:txBody>
      </p:sp>
      <p:pic>
        <p:nvPicPr>
          <p:cNvPr id="8" name="Image 0" descr="figc/f2_carry.png">    </p:cNvPr>
          <p:cNvPicPr>
            <a:picLocks noChangeAspect="1"/>
          </p:cNvPicPr>
          <p:nvPr/>
        </p:nvPicPr>
        <p:blipFill>
          <a:blip r:embed="rId1"/>
          <a:srcRect l="0" r="0" t="0" b="0"/>
          <a:stretch/>
        </p:blipFill>
        <p:spPr>
          <a:xfrm>
            <a:off x="5852160" y="1554480"/>
            <a:ext cx="5760720" cy="4206240"/>
          </a:xfrm>
          <a:prstGeom prst="rect">
            <a:avLst/>
          </a:prstGeom>
        </p:spPr>
      </p:pic>
      <p:sp>
        <p:nvSpPr>
          <p:cNvPr id="9" name="Text 6"/>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 4. About 28 cents of revenue per dollar of capital per year; Goldman Sachs's September 2026 framework says 27.</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4. What comes in today</a:t>
            </a:r>
            <a:endParaRPr lang="en-US" sz="3000" dirty="0"/>
          </a:p>
        </p:txBody>
      </p:sp>
      <p:sp>
        <p:nvSpPr>
          <p:cNvPr id="3" name="Text 1"/>
          <p:cNvSpPr txBox="1"/>
          <p:nvPr/>
        </p:nvSpPr>
        <p:spPr>
          <a:xfrm>
            <a:off x="548640" y="1371600"/>
            <a:ext cx="11064240" cy="146304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All AI revenue in calendar 2026 — the frontier labs (OpenAI, Anthropic and others), the clouds' AI services, the AI lift in advertising, consumer subscriptions — adds up to roughly $180 billion. That is real money and it is growing very fast. It is also less than a quarter of what the installed base will cost to carry in 2030.</a:t>
            </a:r>
            <a:endParaRPr lang="en-US" sz="1800" dirty="0"/>
          </a:p>
        </p:txBody>
      </p:sp>
      <p:sp>
        <p:nvSpPr>
          <p:cNvPr id="4" name="Text 2"/>
          <p:cNvSpPr txBox="1"/>
          <p:nvPr/>
        </p:nvSpPr>
        <p:spPr>
          <a:xfrm>
            <a:off x="914400" y="3108960"/>
            <a:ext cx="4937760" cy="822960"/>
          </a:xfrm>
          <a:prstGeom prst="rect">
            <a:avLst/>
          </a:prstGeom>
          <a:noFill/>
          <a:ln/>
        </p:spPr>
        <p:txBody>
          <a:bodyPr wrap="square" lIns="0" tIns="0" rIns="0" bIns="0" rtlCol="0" anchor="ctr"/>
          <a:lstStyle/>
          <a:p>
            <a:pPr algn="ctr" indent="0" marL="0">
              <a:buNone/>
            </a:pPr>
            <a:r>
              <a:rPr lang="en-US" sz="4000" b="1" dirty="0">
                <a:solidFill>
                  <a:schemeClr val="accent1"/>
                </a:solidFill>
              </a:rPr>
              <a:t>~$180B</a:t>
            </a:r>
            <a:endParaRPr lang="en-US" sz="4000" dirty="0"/>
          </a:p>
        </p:txBody>
      </p:sp>
      <p:sp>
        <p:nvSpPr>
          <p:cNvPr id="5" name="Text 3"/>
          <p:cNvSpPr txBox="1"/>
          <p:nvPr/>
        </p:nvSpPr>
        <p:spPr>
          <a:xfrm>
            <a:off x="914400" y="3931920"/>
            <a:ext cx="4937760" cy="548640"/>
          </a:xfrm>
          <a:prstGeom prst="rect">
            <a:avLst/>
          </a:prstGeom>
          <a:noFill/>
          <a:ln/>
        </p:spPr>
        <p:txBody>
          <a:bodyPr wrap="square" lIns="0" tIns="0" rIns="0" bIns="0" rtlCol="0" anchor="ctr"/>
          <a:lstStyle/>
          <a:p>
            <a:pPr algn="ctr" indent="0" marL="0">
              <a:buNone/>
            </a:pPr>
            <a:r>
              <a:rPr lang="en-US" sz="1300" dirty="0">
                <a:solidFill>
                  <a:schemeClr val="accent3"/>
                </a:solidFill>
              </a:rPr>
              <a:t>AI revenue, 2026, all channels (range $165–190B)</a:t>
            </a:r>
            <a:endParaRPr lang="en-US" sz="1300" dirty="0"/>
          </a:p>
        </p:txBody>
      </p:sp>
      <p:sp>
        <p:nvSpPr>
          <p:cNvPr id="6" name="Text 4"/>
          <p:cNvSpPr txBox="1"/>
          <p:nvPr/>
        </p:nvSpPr>
        <p:spPr>
          <a:xfrm>
            <a:off x="6309360" y="3108960"/>
            <a:ext cx="4937760" cy="822960"/>
          </a:xfrm>
          <a:prstGeom prst="rect">
            <a:avLst/>
          </a:prstGeom>
          <a:noFill/>
          <a:ln/>
        </p:spPr>
        <p:txBody>
          <a:bodyPr wrap="square" lIns="0" tIns="0" rIns="0" bIns="0" rtlCol="0" anchor="ctr"/>
          <a:lstStyle/>
          <a:p>
            <a:pPr algn="ctr" indent="0" marL="0">
              <a:buNone/>
            </a:pPr>
            <a:r>
              <a:rPr lang="en-US" sz="4000" b="1" dirty="0">
                <a:solidFill>
                  <a:schemeClr val="accent1"/>
                </a:solidFill>
              </a:rPr>
              <a:t>~$725B</a:t>
            </a:r>
            <a:endParaRPr lang="en-US" sz="4000" dirty="0"/>
          </a:p>
        </p:txBody>
      </p:sp>
      <p:sp>
        <p:nvSpPr>
          <p:cNvPr id="7" name="Text 5"/>
          <p:cNvSpPr txBox="1"/>
          <p:nvPr/>
        </p:nvSpPr>
        <p:spPr>
          <a:xfrm>
            <a:off x="6309360" y="3931920"/>
            <a:ext cx="4937760" cy="548640"/>
          </a:xfrm>
          <a:prstGeom prst="rect">
            <a:avLst/>
          </a:prstGeom>
          <a:noFill/>
          <a:ln/>
        </p:spPr>
        <p:txBody>
          <a:bodyPr wrap="square" lIns="0" tIns="0" rIns="0" bIns="0" rtlCol="0" anchor="ctr"/>
          <a:lstStyle/>
          <a:p>
            <a:pPr algn="ctr" indent="0" marL="0">
              <a:buNone/>
            </a:pPr>
            <a:r>
              <a:rPr lang="en-US" sz="1300" dirty="0">
                <a:solidFill>
                  <a:schemeClr val="accent3"/>
                </a:solidFill>
              </a:rPr>
              <a:t>carry of the installed base, 2030, if spending plateaus</a:t>
            </a:r>
            <a:endParaRPr lang="en-US" sz="1300" dirty="0"/>
          </a:p>
        </p:txBody>
      </p:sp>
      <p:sp>
        <p:nvSpPr>
          <p:cNvPr id="8" name="Text 6"/>
          <p:cNvSpPr txBox="1"/>
          <p:nvPr/>
        </p:nvSpPr>
        <p:spPr>
          <a:xfrm>
            <a:off x="548640" y="4846320"/>
            <a:ext cx="11064240" cy="9144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So the whole argument is about one number: how fast revenue has to grow to catch the carry — and whether anything in the real economy can grow that fast for that long.</a:t>
            </a:r>
            <a:endParaRPr lang="en-US" sz="1800" dirty="0"/>
          </a:p>
        </p:txBody>
      </p:sp>
      <p:sp>
        <p:nvSpPr>
          <p:cNvPr id="9" name="Text 7"/>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 7: the 2026 base, decomposed into seven sourced pieces; lab run-rates are discounted to booked revenue.</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5. How fast revenue must grow</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The scissors</a:t>
            </a:r>
            <a:endParaRPr lang="en-US" sz="1600" dirty="0"/>
          </a:p>
        </p:txBody>
      </p:sp>
      <p:sp>
        <p:nvSpPr>
          <p:cNvPr id="4" name="Text 2"/>
          <p:cNvSpPr txBox="1"/>
          <p:nvPr/>
        </p:nvSpPr>
        <p:spPr>
          <a:xfrm>
            <a:off x="548640" y="1554480"/>
            <a:ext cx="4572000" cy="3657600"/>
          </a:xfrm>
          <a:prstGeom prst="rect">
            <a:avLst/>
          </a:prstGeom>
          <a:noFill/>
          <a:ln/>
        </p:spPr>
        <p:txBody>
          <a:bodyPr wrap="square" lIns="0" tIns="0" rIns="0" bIns="0" rtlCol="0" anchor="t"/>
          <a:lstStyle/>
          <a:p>
            <a:pPr indent="0" marL="0">
              <a:spcAft>
                <a:spcPts val="600"/>
              </a:spcAft>
              <a:buNone/>
            </a:pPr>
            <a:r>
              <a:rPr lang="en-US" sz="1800" dirty="0">
                <a:solidFill>
                  <a:schemeClr val="tx1"/>
                </a:solidFill>
              </a:rPr>
              <a:t>Grow today's $180 billion at a steady rate and see where it crosses the carry. It takes about 49% a year, every year to 2030, just to break even on a flat spending path — and nothing clears 2027–28, which is already a sunk loss of $100–250 billion a year.</a:t>
            </a:r>
            <a:endParaRPr lang="en-US" sz="1800" dirty="0"/>
          </a:p>
        </p:txBody>
      </p:sp>
      <p:pic>
        <p:nvPicPr>
          <p:cNvPr id="5" name="Image 0" descr="figc/f3_scissors.png">    </p:cNvPr>
          <p:cNvPicPr>
            <a:picLocks noChangeAspect="1"/>
          </p:cNvPicPr>
          <p:nvPr/>
        </p:nvPicPr>
        <p:blipFill>
          <a:blip r:embed="rId1"/>
          <a:srcRect l="0" r="0" t="0" b="0"/>
          <a:stretch/>
        </p:blipFill>
        <p:spPr>
          <a:xfrm>
            <a:off x="5394960" y="1463040"/>
            <a:ext cx="6217920" cy="4480560"/>
          </a:xfrm>
          <a:prstGeom prst="rect">
            <a:avLst/>
          </a:prstGeom>
        </p:spPr>
      </p:pic>
      <p:sp>
        <p:nvSpPr>
          <p:cNvPr id="6" name="Text 3"/>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 10. Under the street's own spending path (an arms race) break-even needs 62% a year; under a 35% cut, 33%.</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6. Where the revenue would come from</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Fifteen sectors, counted one by one</a:t>
            </a:r>
            <a:endParaRPr lang="en-US" sz="1600" dirty="0"/>
          </a:p>
        </p:txBody>
      </p:sp>
      <p:pic>
        <p:nvPicPr>
          <p:cNvPr id="4" name="Image 0" descr="figc/f9_sectors.png">    </p:cNvPr>
          <p:cNvPicPr>
            <a:picLocks noChangeAspect="1"/>
          </p:cNvPicPr>
          <p:nvPr/>
        </p:nvPicPr>
        <p:blipFill>
          <a:blip r:embed="rId1"/>
          <a:srcRect l="0" r="0" t="0" b="0"/>
          <a:stretch/>
        </p:blipFill>
        <p:spPr>
          <a:xfrm>
            <a:off x="548640" y="1463040"/>
            <a:ext cx="6400800" cy="4480560"/>
          </a:xfrm>
          <a:prstGeom prst="rect">
            <a:avLst/>
          </a:prstGeom>
        </p:spPr>
      </p:pic>
      <p:sp>
        <p:nvSpPr>
          <p:cNvPr id="5" name="Text 2"/>
          <p:cNvSpPr txBox="1"/>
          <p:nvPr/>
        </p:nvSpPr>
        <p:spPr>
          <a:xfrm>
            <a:off x="7223760" y="1463040"/>
            <a:ext cx="4389120" cy="201168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Instead of assuming a growth rate, the paper builds demand up from fifteen sectors — office assistants and agents, advertising, consumer apps, coding tools, healthcare, robotics and so on — each with a 2026 base, a ceiling set by payrolls, IT budgets or users, and a realistic ramp.</a:t>
            </a:r>
            <a:endParaRPr lang="en-US" sz="1500" dirty="0"/>
          </a:p>
        </p:txBody>
      </p:sp>
      <p:sp>
        <p:nvSpPr>
          <p:cNvPr id="6" name="Text 3"/>
          <p:cNvSpPr txBox="1"/>
          <p:nvPr/>
        </p:nvSpPr>
        <p:spPr>
          <a:xfrm>
            <a:off x="7223760" y="3566160"/>
            <a:ext cx="4389120" cy="822960"/>
          </a:xfrm>
          <a:prstGeom prst="rect">
            <a:avLst/>
          </a:prstGeom>
          <a:noFill/>
          <a:ln/>
        </p:spPr>
        <p:txBody>
          <a:bodyPr wrap="square" lIns="0" tIns="0" rIns="0" bIns="0" rtlCol="0" anchor="ctr"/>
          <a:lstStyle/>
          <a:p>
            <a:pPr algn="ctr" indent="0" marL="0">
              <a:buNone/>
            </a:pPr>
            <a:r>
              <a:rPr lang="en-US" sz="4000" b="1" dirty="0">
                <a:solidFill>
                  <a:schemeClr val="accent1"/>
                </a:solidFill>
              </a:rPr>
              <a:t>~$625B</a:t>
            </a:r>
            <a:endParaRPr lang="en-US" sz="4000" dirty="0"/>
          </a:p>
        </p:txBody>
      </p:sp>
      <p:sp>
        <p:nvSpPr>
          <p:cNvPr id="7" name="Text 4"/>
          <p:cNvSpPr txBox="1"/>
          <p:nvPr/>
        </p:nvSpPr>
        <p:spPr>
          <a:xfrm>
            <a:off x="7223760" y="4389120"/>
            <a:ext cx="4389120" cy="548640"/>
          </a:xfrm>
          <a:prstGeom prst="rect">
            <a:avLst/>
          </a:prstGeom>
          <a:noFill/>
          <a:ln/>
        </p:spPr>
        <p:txBody>
          <a:bodyPr wrap="square" lIns="0" tIns="0" rIns="0" bIns="0" rtlCol="0" anchor="ctr"/>
          <a:lstStyle/>
          <a:p>
            <a:pPr algn="ctr" indent="0" marL="0">
              <a:buNone/>
            </a:pPr>
            <a:r>
              <a:rPr lang="en-US" sz="1300" dirty="0">
                <a:solidFill>
                  <a:schemeClr val="accent3"/>
                </a:solidFill>
              </a:rPr>
              <a:t>what end customers spend on AI in 2030 (range $525–745B)</a:t>
            </a:r>
            <a:endParaRPr lang="en-US" sz="1300" dirty="0"/>
          </a:p>
        </p:txBody>
      </p:sp>
      <p:sp>
        <p:nvSpPr>
          <p:cNvPr id="8" name="Text 5"/>
          <p:cNvSpPr txBox="1"/>
          <p:nvPr/>
        </p:nvSpPr>
        <p:spPr>
          <a:xfrm>
            <a:off x="7223760" y="5029200"/>
            <a:ext cx="4389120" cy="822960"/>
          </a:xfrm>
          <a:prstGeom prst="rect">
            <a:avLst/>
          </a:prstGeom>
          <a:noFill/>
          <a:ln/>
        </p:spPr>
        <p:txBody>
          <a:bodyPr wrap="square" lIns="0" tIns="0" rIns="0" bIns="0" rtlCol="0" anchor="t"/>
          <a:lstStyle/>
          <a:p>
            <a:pPr indent="0" marL="0">
              <a:spcAft>
                <a:spcPts val="600"/>
              </a:spcAft>
              <a:buNone/>
            </a:pPr>
            <a:r>
              <a:rPr lang="en-US" sz="1400" dirty="0">
                <a:solidFill>
                  <a:schemeClr val="accent3"/>
                </a:solidFill>
              </a:rPr>
              <a:t>About 33% a year, not 49%. Growth starts near 57% in 2027 and decays toward 14% by 2030.</a:t>
            </a:r>
            <a:endParaRPr lang="en-US" sz="1400" dirty="0"/>
          </a:p>
        </p:txBody>
      </p:sp>
      <p:sp>
        <p:nvSpPr>
          <p:cNvPr id="9" name="Text 6"/>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 8. No single sector closes the gap; the four largest are office assistants, advertising, consumer and coding.</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7. Not all of it reaches the builders</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Where a customer's dollar goes</a:t>
            </a:r>
            <a:endParaRPr lang="en-US" sz="1600" dirty="0"/>
          </a:p>
        </p:txBody>
      </p:sp>
      <p:sp>
        <p:nvSpPr>
          <p:cNvPr id="4" name="Text 2"/>
          <p:cNvSpPr txBox="1"/>
          <p:nvPr/>
        </p:nvSpPr>
        <p:spPr>
          <a:xfrm>
            <a:off x="548640" y="1554480"/>
            <a:ext cx="4206240" cy="411480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A customer's dollar passes through the labs and the application builders before any of it reaches the cloud owner. Routine work moves onto cheap or local chips; outcome-priced integrators keep most of the savings they create. In contact centers, roughly $50 of payroll disappears for every $1 of cloud tokens.</a:t>
            </a:r>
            <a:endParaRPr lang="en-US" sz="1600" dirty="0"/>
          </a:p>
        </p:txBody>
      </p:sp>
      <p:pic>
        <p:nvPicPr>
          <p:cNvPr id="5" name="Image 0" descr="figc/f18_flow.png">    </p:cNvPr>
          <p:cNvPicPr>
            <a:picLocks noChangeAspect="1"/>
          </p:cNvPicPr>
          <p:nvPr/>
        </p:nvPicPr>
        <p:blipFill>
          <a:blip r:embed="rId1"/>
          <a:srcRect l="0" r="0" t="0" b="0"/>
          <a:stretch/>
        </p:blipFill>
        <p:spPr>
          <a:xfrm>
            <a:off x="4937760" y="1463040"/>
            <a:ext cx="6675120" cy="4480560"/>
          </a:xfrm>
          <a:prstGeom prst="rect">
            <a:avLst/>
          </a:prstGeom>
        </p:spPr>
      </p:pic>
      <p:sp>
        <p:nvSpPr>
          <p:cNvPr id="6" name="Text 3"/>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Sections 8 and 13. Of the $625B customers spend in 2030, about $480–490B reaches the infrastructure owners.</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8. The gap</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The most likely outcome at the register's current inputs</a:t>
            </a:r>
            <a:endParaRPr lang="en-US" sz="1600" dirty="0"/>
          </a:p>
        </p:txBody>
      </p:sp>
      <p:sp>
        <p:nvSpPr>
          <p:cNvPr id="4" name="Text 2"/>
          <p:cNvSpPr txBox="1"/>
          <p:nvPr/>
        </p:nvSpPr>
        <p:spPr>
          <a:xfrm>
            <a:off x="548640" y="1554480"/>
            <a:ext cx="4937760" cy="822960"/>
          </a:xfrm>
          <a:prstGeom prst="rect">
            <a:avLst/>
          </a:prstGeom>
          <a:noFill/>
          <a:ln/>
        </p:spPr>
        <p:txBody>
          <a:bodyPr wrap="square" lIns="0" tIns="0" rIns="0" bIns="0" rtlCol="0" anchor="ctr"/>
          <a:lstStyle/>
          <a:p>
            <a:pPr algn="ctr" indent="0" marL="0">
              <a:buNone/>
            </a:pPr>
            <a:r>
              <a:rPr lang="en-US" sz="4000" b="1" dirty="0">
                <a:solidFill>
                  <a:schemeClr val="accent1"/>
                </a:solidFill>
              </a:rPr>
              <a:t>~$255B a year</a:t>
            </a:r>
            <a:endParaRPr lang="en-US" sz="4000" dirty="0"/>
          </a:p>
        </p:txBody>
      </p:sp>
      <p:sp>
        <p:nvSpPr>
          <p:cNvPr id="5" name="Text 3"/>
          <p:cNvSpPr txBox="1"/>
          <p:nvPr/>
        </p:nvSpPr>
        <p:spPr>
          <a:xfrm>
            <a:off x="548640" y="2377440"/>
            <a:ext cx="4937760" cy="548640"/>
          </a:xfrm>
          <a:prstGeom prst="rect">
            <a:avLst/>
          </a:prstGeom>
          <a:noFill/>
          <a:ln/>
        </p:spPr>
        <p:txBody>
          <a:bodyPr wrap="square" lIns="0" tIns="0" rIns="0" bIns="0" rtlCol="0" anchor="ctr"/>
          <a:lstStyle/>
          <a:p>
            <a:pPr algn="ctr" indent="0" marL="0">
              <a:buNone/>
            </a:pPr>
            <a:r>
              <a:rPr lang="en-US" sz="1300" dirty="0">
                <a:solidFill>
                  <a:schemeClr val="accent3"/>
                </a:solidFill>
              </a:rPr>
              <a:t>short in 2030 if spending plateaus</a:t>
            </a:r>
            <a:endParaRPr lang="en-US" sz="1300" dirty="0"/>
          </a:p>
        </p:txBody>
      </p:sp>
      <p:sp>
        <p:nvSpPr>
          <p:cNvPr id="6" name="Text 4"/>
          <p:cNvSpPr txBox="1"/>
          <p:nvPr/>
        </p:nvSpPr>
        <p:spPr>
          <a:xfrm>
            <a:off x="548640" y="3200400"/>
            <a:ext cx="4937760" cy="822960"/>
          </a:xfrm>
          <a:prstGeom prst="rect">
            <a:avLst/>
          </a:prstGeom>
          <a:noFill/>
          <a:ln/>
        </p:spPr>
        <p:txBody>
          <a:bodyPr wrap="square" lIns="0" tIns="0" rIns="0" bIns="0" rtlCol="0" anchor="ctr"/>
          <a:lstStyle/>
          <a:p>
            <a:pPr algn="ctr" indent="0" marL="0">
              <a:buNone/>
            </a:pPr>
            <a:r>
              <a:rPr lang="en-US" sz="4000" b="1" dirty="0">
                <a:solidFill>
                  <a:schemeClr val="accent1"/>
                </a:solidFill>
              </a:rPr>
              <a:t>$190–540B</a:t>
            </a:r>
            <a:endParaRPr lang="en-US" sz="4000" dirty="0"/>
          </a:p>
        </p:txBody>
      </p:sp>
      <p:sp>
        <p:nvSpPr>
          <p:cNvPr id="7" name="Text 5"/>
          <p:cNvSpPr txBox="1"/>
          <p:nvPr/>
        </p:nvSpPr>
        <p:spPr>
          <a:xfrm>
            <a:off x="548640" y="4023360"/>
            <a:ext cx="4937760" cy="548640"/>
          </a:xfrm>
          <a:prstGeom prst="rect">
            <a:avLst/>
          </a:prstGeom>
          <a:noFill/>
          <a:ln/>
        </p:spPr>
        <p:txBody>
          <a:bodyPr wrap="square" lIns="0" tIns="0" rIns="0" bIns="0" rtlCol="0" anchor="ctr"/>
          <a:lstStyle/>
          <a:p>
            <a:pPr algn="ctr" indent="0" marL="0">
              <a:buNone/>
            </a:pPr>
            <a:r>
              <a:rPr lang="en-US" sz="1300" dirty="0">
                <a:solidFill>
                  <a:schemeClr val="accent3"/>
                </a:solidFill>
              </a:rPr>
              <a:t>short in 2030 under the street's arms-race path</a:t>
            </a:r>
            <a:endParaRPr lang="en-US" sz="1300" dirty="0"/>
          </a:p>
        </p:txBody>
      </p:sp>
      <p:sp>
        <p:nvSpPr>
          <p:cNvPr id="8" name="Text 6"/>
          <p:cNvSpPr txBox="1"/>
          <p:nvPr/>
        </p:nvSpPr>
        <p:spPr>
          <a:xfrm>
            <a:off x="548640" y="4754880"/>
            <a:ext cx="4937760" cy="1097280"/>
          </a:xfrm>
          <a:prstGeom prst="rect">
            <a:avLst/>
          </a:prstGeom>
          <a:noFill/>
          <a:ln/>
        </p:spPr>
        <p:txBody>
          <a:bodyPr wrap="square" lIns="0" tIns="0" rIns="0" bIns="0" rtlCol="0" anchor="t"/>
          <a:lstStyle/>
          <a:p>
            <a:pPr indent="0" marL="0">
              <a:spcAft>
                <a:spcPts val="600"/>
              </a:spcAft>
              <a:buNone/>
            </a:pPr>
            <a:r>
              <a:rPr lang="en-US" sz="1500" dirty="0">
                <a:solidFill>
                  <a:schemeClr val="accent3"/>
                </a:solidFill>
              </a:rPr>
              <a:t>This is the most likely outcome, 3.5 standard deviations from break-even with every range propagated. Change the inputs and it moves; the last slide says how.</a:t>
            </a:r>
            <a:endParaRPr lang="en-US" sz="1500" dirty="0"/>
          </a:p>
        </p:txBody>
      </p:sp>
      <p:pic>
        <p:nvPicPr>
          <p:cNvPr id="9" name="Image 0" descr="figc/f10_reconcile.png">    </p:cNvPr>
          <p:cNvPicPr>
            <a:picLocks noChangeAspect="1"/>
          </p:cNvPicPr>
          <p:nvPr/>
        </p:nvPicPr>
        <p:blipFill>
          <a:blip r:embed="rId1"/>
          <a:srcRect l="0" r="0" t="0" b="0"/>
          <a:stretch/>
        </p:blipFill>
        <p:spPr>
          <a:xfrm>
            <a:off x="5852160" y="1463040"/>
            <a:ext cx="5760720" cy="4480560"/>
          </a:xfrm>
          <a:prstGeom prst="rect">
            <a:avLst/>
          </a:prstGeom>
        </p:spPr>
      </p:pic>
      <p:sp>
        <p:nvSpPr>
          <p:cNvPr id="10" name="Text 7"/>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 10, Table 12. 2027–28 is a loss on every path; the argument is about whether 2029–30 recovers it.</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9. Why growth slows</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Five things already visible</a:t>
            </a:r>
            <a:endParaRPr lang="en-US" sz="1600" dirty="0"/>
          </a:p>
        </p:txBody>
      </p:sp>
      <p:sp>
        <p:nvSpPr>
          <p:cNvPr id="4" name="Text 2"/>
          <p:cNvSpPr txBox="1"/>
          <p:nvPr/>
        </p:nvSpPr>
        <p:spPr>
          <a:xfrm>
            <a:off x="548640" y="1645920"/>
            <a:ext cx="11064240" cy="420624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tx1"/>
                </a:solidFill>
              </a:rPr>
              <a:t>Slack. Saving an analyst thirty minutes a day across six tasks does not let you fire anyone. Nominal time savings convert to cash at roughly 28 cents on the dollar.</a:t>
            </a:r>
            <a:endParaRPr lang="en-US" sz="1900" dirty="0"/>
          </a:p>
          <a:p>
            <a:pPr marL="342900" indent="-342900">
              <a:spcAft>
                <a:spcPts val="800"/>
              </a:spcAft>
              <a:buSzPct val="100000"/>
              <a:buChar char="•"/>
            </a:pPr>
            <a:r>
              <a:rPr lang="en-US" sz="1900" dirty="0">
                <a:solidFill>
                  <a:schemeClr val="tx1"/>
                </a:solidFill>
              </a:rPr>
              <a:t>Verification. The person who used to write the memo now checks it. Liability keeps a human in the loop.</a:t>
            </a:r>
            <a:endParaRPr lang="en-US" sz="1900" dirty="0"/>
          </a:p>
          <a:p>
            <a:pPr marL="342900" indent="-342900">
              <a:spcAft>
                <a:spcPts val="800"/>
              </a:spcAft>
              <a:buSzPct val="100000"/>
              <a:buChar char="•"/>
            </a:pPr>
            <a:r>
              <a:rPr lang="en-US" sz="1900" dirty="0">
                <a:solidFill>
                  <a:schemeClr val="tx1"/>
                </a:solidFill>
              </a:rPr>
              <a:t>Leakage. Savings go to the buyer and the integrator who fixed the process, not the cloud. Routine inference moves to 1.45 billion on-device chips a year.</a:t>
            </a:r>
            <a:endParaRPr lang="en-US" sz="1900" dirty="0"/>
          </a:p>
          <a:p>
            <a:pPr marL="342900" indent="-342900">
              <a:spcAft>
                <a:spcPts val="800"/>
              </a:spcAft>
              <a:buSzPct val="100000"/>
              <a:buChar char="•"/>
            </a:pPr>
            <a:r>
              <a:rPr lang="en-US" sz="1900" dirty="0">
                <a:solidFill>
                  <a:schemeClr val="tx1"/>
                </a:solidFill>
              </a:rPr>
              <a:t>Sovereignty. Europe, India and others carve 15–35% of demand out of the US clouds while forcing them to duplicate capital.</a:t>
            </a:r>
            <a:endParaRPr lang="en-US" sz="1900" dirty="0"/>
          </a:p>
          <a:p>
            <a:pPr marL="342900" indent="-342900">
              <a:spcAft>
                <a:spcPts val="800"/>
              </a:spcAft>
              <a:buSzPct val="100000"/>
              <a:buChar char="•"/>
            </a:pPr>
            <a:r>
              <a:rPr lang="en-US" sz="1900" dirty="0">
                <a:solidFill>
                  <a:schemeClr val="tx1"/>
                </a:solidFill>
              </a:rPr>
              <a:t>Grid and consent. $130 billion of US projects were blocked or delayed in the first quarter of 2026 alone. Chips bought before they can be powered earn nothing.</a:t>
            </a:r>
            <a:endParaRPr lang="en-US" sz="1900" dirty="0"/>
          </a:p>
        </p:txBody>
      </p:sp>
      <p:sp>
        <p:nvSpPr>
          <p:cNvPr id="5" name="Text 3"/>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Sections 11–13. Each has a precedent: electricity took forty years to show up in factory productivity; computers took twenty.</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10. The chips are worth less than the books say</a:t>
            </a:r>
            <a:endParaRPr lang="en-US" sz="3000" dirty="0"/>
          </a:p>
        </p:txBody>
      </p:sp>
      <p:sp>
        <p:nvSpPr>
          <p:cNvPr id="3" name="Text 1"/>
          <p:cNvSpPr txBox="1"/>
          <p:nvPr/>
        </p:nvSpPr>
        <p:spPr>
          <a:xfrm>
            <a:off x="548640" y="1371600"/>
            <a:ext cx="11064240" cy="137160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Accountants depreciate a chip over five or six years. Economically it is worth what it can earn against the newest chip, whose cost per token falls 50–90% a year. On that schedule the silicon bought through 2026 is already worth $100–250 billion less than the balance sheets show.</a:t>
            </a:r>
            <a:endParaRPr lang="en-US" sz="1700" dirty="0"/>
          </a:p>
        </p:txBody>
      </p:sp>
      <p:pic>
        <p:nvPicPr>
          <p:cNvPr id="4" name="Image 0" descr="figc/f23_econdep_floor.png">    </p:cNvPr>
          <p:cNvPicPr>
            <a:picLocks noChangeAspect="1"/>
          </p:cNvPicPr>
          <p:nvPr/>
        </p:nvPicPr>
        <p:blipFill>
          <a:blip r:embed="rId1"/>
          <a:srcRect l="0" r="0" t="0" b="0"/>
          <a:stretch/>
        </p:blipFill>
        <p:spPr>
          <a:xfrm>
            <a:off x="548640" y="2834640"/>
            <a:ext cx="11064240" cy="3108960"/>
          </a:xfrm>
          <a:prstGeom prst="rect">
            <a:avLst/>
          </a:prstGeom>
        </p:spPr>
      </p:pic>
      <p:sp>
        <p:nvSpPr>
          <p:cNvPr id="5" name="Text 2"/>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 14. If token prices fall to the cash cost of running the chips (a tenth of today's), the capital is never recovered.</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11. Where we agree and disagree with the bulls</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a16z and Goldman Sachs, September 2026</a:t>
            </a:r>
            <a:endParaRPr lang="en-US" sz="1600" dirty="0"/>
          </a:p>
        </p:txBody>
      </p:sp>
      <p:sp>
        <p:nvSpPr>
          <p:cNvPr id="4" name="Text 2"/>
          <p:cNvSpPr txBox="1"/>
          <p:nvPr/>
        </p:nvSpPr>
        <p:spPr>
          <a:xfrm>
            <a:off x="548640" y="1554480"/>
            <a:ext cx="11064240" cy="146304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The paper takes a16z's State of Markets and Goldman Sachs's ROIC note point by point. We agree with both on almost every observable: capex consensus, backlogs near $1.7 trillion, rising GPU rents, the ROIC on existing businesses. The yearly cost per dollar of capital is not in dispute — Goldman's 27 cents, our 28.</a:t>
            </a:r>
            <a:endParaRPr lang="en-US" sz="1700" dirty="0"/>
          </a:p>
        </p:txBody>
      </p:sp>
      <p:sp>
        <p:nvSpPr>
          <p:cNvPr id="5" name="Text 3"/>
          <p:cNvSpPr txBox="1"/>
          <p:nvPr/>
        </p:nvSpPr>
        <p:spPr>
          <a:xfrm>
            <a:off x="548640" y="3017520"/>
            <a:ext cx="11064240" cy="3657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The disagreements are three, and they are judgments, not arithmetic:</a:t>
            </a:r>
            <a:endParaRPr lang="en-US" sz="1600" dirty="0"/>
          </a:p>
        </p:txBody>
      </p:sp>
      <p:sp>
        <p:nvSpPr>
          <p:cNvPr id="6" name="Text 4"/>
          <p:cNvSpPr txBox="1"/>
          <p:nvPr/>
        </p:nvSpPr>
        <p:spPr>
          <a:xfrm>
            <a:off x="548640" y="3566160"/>
            <a:ext cx="1106424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Whether AI gets paid from labor budgets (the $30 trillion payroll) as well as IT budgets — the bulls say yes; we show why only a fraction converts.</a:t>
            </a:r>
            <a:endParaRPr lang="en-US" sz="1700" dirty="0"/>
          </a:p>
          <a:p>
            <a:pPr marL="342900" indent="-342900">
              <a:spcAft>
                <a:spcPts val="800"/>
              </a:spcAft>
              <a:buSzPct val="100000"/>
              <a:buChar char="•"/>
            </a:pPr>
            <a:r>
              <a:rPr lang="en-US" sz="1700" dirty="0">
                <a:solidFill>
                  <a:schemeClr val="tx1"/>
                </a:solidFill>
              </a:rPr>
              <a:t>Whether today's scarce, expensive compute is the permanent state or the top of a cycle.</a:t>
            </a:r>
            <a:endParaRPr lang="en-US" sz="1700" dirty="0"/>
          </a:p>
          <a:p>
            <a:pPr marL="342900" indent="-342900">
              <a:spcAft>
                <a:spcPts val="800"/>
              </a:spcAft>
              <a:buSzPct val="100000"/>
              <a:buChar char="•"/>
            </a:pPr>
            <a:r>
              <a:rPr lang="en-US" sz="1700" dirty="0">
                <a:solidFill>
                  <a:schemeClr val="tx1"/>
                </a:solidFill>
              </a:rPr>
              <a:t>Whether you count one cohort of spending (Goldman's $1.73 trillion for 2026–27) or every cohort stacked on the balance sheet. A balance sheet does not get to choose.</a:t>
            </a:r>
            <a:endParaRPr lang="en-US" sz="1700" dirty="0"/>
          </a:p>
        </p:txBody>
      </p:sp>
      <p:sp>
        <p:nvSpPr>
          <p:cNvPr id="7" name="Text 5"/>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Sections 15 and 16.</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12. What would change the most likely outcome, and when</a:t>
            </a:r>
            <a:endParaRPr lang="en-US" sz="3000" dirty="0"/>
          </a:p>
        </p:txBody>
      </p:sp>
      <p:sp>
        <p:nvSpPr>
          <p:cNvPr id="3" name="Text 1"/>
          <p:cNvSpPr txBox="1"/>
          <p:nvPr/>
        </p:nvSpPr>
        <p:spPr>
          <a:xfrm>
            <a:off x="548640" y="1554480"/>
            <a:ext cx="4937760" cy="822960"/>
          </a:xfrm>
          <a:prstGeom prst="rect">
            <a:avLst/>
          </a:prstGeom>
          <a:noFill/>
          <a:ln/>
        </p:spPr>
        <p:txBody>
          <a:bodyPr wrap="square" lIns="0" tIns="0" rIns="0" bIns="0" rtlCol="0" anchor="ctr"/>
          <a:lstStyle/>
          <a:p>
            <a:pPr algn="ctr" indent="0" marL="0">
              <a:buNone/>
            </a:pPr>
            <a:r>
              <a:rPr lang="en-US" sz="4000" b="1" dirty="0">
                <a:solidFill>
                  <a:schemeClr val="accent1"/>
                </a:solidFill>
              </a:rPr>
              <a:t>$400B</a:t>
            </a:r>
            <a:endParaRPr lang="en-US" sz="4000" dirty="0"/>
          </a:p>
        </p:txBody>
      </p:sp>
      <p:sp>
        <p:nvSpPr>
          <p:cNvPr id="4" name="Text 2"/>
          <p:cNvSpPr txBox="1"/>
          <p:nvPr/>
        </p:nvSpPr>
        <p:spPr>
          <a:xfrm>
            <a:off x="548640" y="2377440"/>
            <a:ext cx="4937760" cy="548640"/>
          </a:xfrm>
          <a:prstGeom prst="rect">
            <a:avLst/>
          </a:prstGeom>
          <a:noFill/>
          <a:ln/>
        </p:spPr>
        <p:txBody>
          <a:bodyPr wrap="square" lIns="0" tIns="0" rIns="0" bIns="0" rtlCol="0" anchor="ctr"/>
          <a:lstStyle/>
          <a:p>
            <a:pPr algn="ctr" indent="0" marL="0">
              <a:buNone/>
            </a:pPr>
            <a:r>
              <a:rPr lang="en-US" sz="1300" dirty="0">
                <a:solidFill>
                  <a:schemeClr val="accent3"/>
                </a:solidFill>
              </a:rPr>
              <a:t>AI revenue in calendar 2028 above this overturns the most likely outcome</a:t>
            </a:r>
            <a:endParaRPr lang="en-US" sz="1300" dirty="0"/>
          </a:p>
        </p:txBody>
      </p:sp>
      <p:sp>
        <p:nvSpPr>
          <p:cNvPr id="5" name="Text 3"/>
          <p:cNvSpPr txBox="1"/>
          <p:nvPr/>
        </p:nvSpPr>
        <p:spPr>
          <a:xfrm>
            <a:off x="548640" y="3200400"/>
            <a:ext cx="4937760" cy="2651760"/>
          </a:xfrm>
          <a:prstGeom prst="rect">
            <a:avLst/>
          </a:prstGeom>
          <a:noFill/>
          <a:ln/>
        </p:spPr>
        <p:txBody>
          <a:bodyPr wrap="square" lIns="0" tIns="0" rIns="0" bIns="0" rtlCol="0" anchor="t"/>
          <a:lstStyle/>
          <a:p>
            <a:pPr indent="0" marL="0">
              <a:spcAft>
                <a:spcPts val="600"/>
              </a:spcAft>
              <a:buNone/>
            </a:pPr>
            <a:r>
              <a:rPr lang="en-US" sz="1500" dirty="0">
                <a:solidFill>
                  <a:schemeClr val="tx1"/>
                </a:solidFill>
              </a:rPr>
              <a:t>Interim marker: calendar 2027 near $330B is our path; above $350B favours the build-out.</a:t>
            </a:r>
            <a:endParaRPr lang="en-US" sz="1500" dirty="0"/>
          </a:p>
          <a:p>
            <a:pPr indent="0" marL="0">
              <a:spcAft>
                <a:spcPts val="600"/>
              </a:spcAft>
              <a:buNone/>
            </a:pPr>
            <a:endParaRPr lang="en-US" sz="1500" dirty="0"/>
          </a:p>
          <a:p>
            <a:pPr indent="0" marL="0">
              <a:spcAft>
                <a:spcPts val="600"/>
              </a:spcAft>
              <a:buNone/>
            </a:pPr>
            <a:r>
              <a:rPr lang="en-US" sz="1500" dirty="0">
                <a:solidFill>
                  <a:schemeClr val="tx1"/>
                </a:solidFill>
              </a:rPr>
              <a:t>The next data: the Q3 earnings calls of 28–30 October, Nvidia on 19 November, the Anthropic listing. The register is rebuilt after each and the paper re-issued if anything moves materially.</a:t>
            </a:r>
            <a:endParaRPr lang="en-US" sz="1500" dirty="0"/>
          </a:p>
        </p:txBody>
      </p:sp>
      <p:pic>
        <p:nvPicPr>
          <p:cNvPr id="6" name="Image 0" descr="figc/f17_probmap.png">    </p:cNvPr>
          <p:cNvPicPr>
            <a:picLocks noChangeAspect="1"/>
          </p:cNvPicPr>
          <p:nvPr/>
        </p:nvPicPr>
        <p:blipFill>
          <a:blip r:embed="rId1"/>
          <a:srcRect l="0" r="0" t="0" b="0"/>
          <a:stretch/>
        </p:blipFill>
        <p:spPr>
          <a:xfrm>
            <a:off x="5852160" y="1645920"/>
            <a:ext cx="5760720" cy="2377440"/>
          </a:xfrm>
          <a:prstGeom prst="rect">
            <a:avLst/>
          </a:prstGeom>
        </p:spPr>
      </p:pic>
      <p:sp>
        <p:nvSpPr>
          <p:cNvPr id="7" name="Text 4"/>
          <p:cNvSpPr txBox="1"/>
          <p:nvPr/>
        </p:nvSpPr>
        <p:spPr>
          <a:xfrm>
            <a:off x="5852160" y="4206240"/>
            <a:ext cx="5760720" cy="1097280"/>
          </a:xfrm>
          <a:prstGeom prst="rect">
            <a:avLst/>
          </a:prstGeom>
          <a:noFill/>
          <a:ln/>
        </p:spPr>
        <p:txBody>
          <a:bodyPr wrap="square" lIns="0" tIns="0" rIns="0" bIns="0" rtlCol="0" anchor="t"/>
          <a:lstStyle/>
          <a:p>
            <a:pPr indent="0" marL="0">
              <a:spcAft>
                <a:spcPts val="600"/>
              </a:spcAft>
              <a:buNone/>
            </a:pPr>
            <a:r>
              <a:rPr lang="en-US" sz="1200" dirty="0">
                <a:solidFill>
                  <a:schemeClr val="accent3"/>
                </a:solidFill>
              </a:rPr>
              <a:t>Probability of profit in 2030 over the two things we cannot pin down: how fast firms actually adopt, and how big the office-assistant market gets.</a:t>
            </a:r>
            <a:endParaRPr lang="en-US" sz="1200" dirty="0"/>
          </a:p>
        </p:txBody>
      </p:sp>
      <p:sp>
        <p:nvSpPr>
          <p:cNvPr id="8" name="Text 5"/>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Section 17 and the update protocol.</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13. The way out is not dramatic</a:t>
            </a:r>
            <a:endParaRPr lang="en-US" sz="3000" dirty="0"/>
          </a:p>
        </p:txBody>
      </p:sp>
      <p:sp>
        <p:nvSpPr>
          <p:cNvPr id="3" name="Text 1"/>
          <p:cNvSpPr txBox="1"/>
          <p:nvPr/>
        </p:nvSpPr>
        <p:spPr>
          <a:xfrm>
            <a:off x="548640" y="1371600"/>
            <a:ext cx="11064240" cy="1280160"/>
          </a:xfrm>
          <a:prstGeom prst="rect">
            <a:avLst/>
          </a:prstGeom>
          <a:noFill/>
          <a:ln/>
        </p:spPr>
        <p:txBody>
          <a:bodyPr wrap="square" lIns="0" tIns="0" rIns="0" bIns="0" rtlCol="0" anchor="t"/>
          <a:lstStyle/>
          <a:p>
            <a:pPr indent="0" marL="0">
              <a:spcAft>
                <a:spcPts val="600"/>
              </a:spcAft>
              <a:buNone/>
            </a:pPr>
            <a:r>
              <a:rPr lang="en-US" sz="1700" dirty="0">
                <a:solidFill>
                  <a:schemeClr val="tx1"/>
                </a:solidFill>
              </a:rPr>
              <a:t>Stop building ahead of revenue. An operator that cuts spending by about a third — or simply lets spending track the revenue it actually books — turns profitable around 2031 and recovers the hole by 2034–35. A plateau never recovers within the horizon; an arms race widens the gap every year.</a:t>
            </a:r>
            <a:endParaRPr lang="en-US" sz="1700" dirty="0"/>
          </a:p>
        </p:txBody>
      </p:sp>
      <p:pic>
        <p:nvPicPr>
          <p:cNvPr id="4" name="Image 0" descr="figc/f20_adaptive.png">    </p:cNvPr>
          <p:cNvPicPr>
            <a:picLocks noChangeAspect="1"/>
          </p:cNvPicPr>
          <p:nvPr/>
        </p:nvPicPr>
        <p:blipFill>
          <a:blip r:embed="rId1"/>
          <a:srcRect l="0" r="0" t="0" b="0"/>
          <a:stretch/>
        </p:blipFill>
        <p:spPr>
          <a:xfrm>
            <a:off x="2194560" y="2743200"/>
            <a:ext cx="7772400" cy="3200400"/>
          </a:xfrm>
          <a:prstGeom prst="rect">
            <a:avLst/>
          </a:prstGeom>
        </p:spPr>
      </p:pic>
      <p:sp>
        <p:nvSpPr>
          <p:cNvPr id="5" name="Text 2"/>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Paper appendix on the 2035 horizon. The forecast is impairments and a capex retreat in 2027–29, then a cheaper, more distributed equilibrium — not the end of AI.</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The whole argument</a:t>
            </a:r>
            <a:endParaRPr lang="en-US" sz="3000" dirty="0"/>
          </a:p>
        </p:txBody>
      </p:sp>
      <p:sp>
        <p:nvSpPr>
          <p:cNvPr id="3" name="Text 1"/>
          <p:cNvSpPr txBox="1"/>
          <p:nvPr/>
        </p:nvSpPr>
        <p:spPr>
          <a:xfrm>
            <a:off x="548640" y="1005840"/>
            <a:ext cx="11064240" cy="365760"/>
          </a:xfrm>
          <a:prstGeom prst="rect">
            <a:avLst/>
          </a:prstGeom>
          <a:noFill/>
          <a:ln/>
        </p:spPr>
        <p:txBody>
          <a:bodyPr wrap="square" lIns="0" tIns="0" rIns="0" bIns="0" rtlCol="0" anchor="ctr"/>
          <a:lstStyle/>
          <a:p>
            <a:pPr indent="0" marL="0">
              <a:buNone/>
            </a:pPr>
            <a:r>
              <a:rPr lang="en-US" sz="1600" i="1" dirty="0">
                <a:solidFill>
                  <a:schemeClr val="accent3"/>
                </a:solidFill>
              </a:rPr>
              <a:t>and how to take part</a:t>
            </a:r>
            <a:endParaRPr lang="en-US" sz="1600" dirty="0"/>
          </a:p>
        </p:txBody>
      </p:sp>
      <p:sp>
        <p:nvSpPr>
          <p:cNvPr id="4" name="Text 2"/>
          <p:cNvSpPr txBox="1"/>
          <p:nvPr/>
        </p:nvSpPr>
        <p:spPr>
          <a:xfrm>
            <a:off x="548640" y="1554480"/>
            <a:ext cx="6035040" cy="3657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In six lines</a:t>
            </a:r>
            <a:endParaRPr lang="en-US" sz="1600" dirty="0"/>
          </a:p>
        </p:txBody>
      </p:sp>
      <p:sp>
        <p:nvSpPr>
          <p:cNvPr id="5" name="Text 3"/>
          <p:cNvSpPr txBox="1"/>
          <p:nvPr/>
        </p:nvSpPr>
        <p:spPr>
          <a:xfrm>
            <a:off x="548640" y="2011680"/>
            <a:ext cx="6035040" cy="38404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Fermi, not forecast: every number is a chain of bounded factors; nineteen were decomposed until only two big uncertainties remain.</a:t>
            </a:r>
            <a:endParaRPr lang="en-US" sz="1500" dirty="0"/>
          </a:p>
          <a:p>
            <a:pPr marL="342900" indent="-342900">
              <a:spcAft>
                <a:spcPts val="600"/>
              </a:spcAft>
              <a:buSzPct val="100000"/>
              <a:buFont typeface="+mj-lt"/>
              <a:buAutoNum type="arabicPeriod" startAt="1"/>
            </a:pPr>
            <a:r>
              <a:rPr lang="en-US" sz="1500" dirty="0">
                <a:solidFill>
                  <a:schemeClr val="tx1"/>
                </a:solidFill>
              </a:rPr>
              <a:t>The installed base costs about 28 cents per dollar per year to carry; that is $725B a year by 2030 on a flat path.</a:t>
            </a:r>
            <a:endParaRPr lang="en-US" sz="1500" dirty="0"/>
          </a:p>
          <a:p>
            <a:pPr marL="342900" indent="-342900">
              <a:spcAft>
                <a:spcPts val="600"/>
              </a:spcAft>
              <a:buSzPct val="100000"/>
              <a:buFont typeface="+mj-lt"/>
              <a:buAutoNum type="arabicPeriod" startAt="1"/>
            </a:pPr>
            <a:r>
              <a:rPr lang="en-US" sz="1500" dirty="0">
                <a:solidFill>
                  <a:schemeClr val="tx1"/>
                </a:solidFill>
              </a:rPr>
              <a:t>Revenue is $180B today and must grow 49% a year to catch it.</a:t>
            </a:r>
            <a:endParaRPr lang="en-US" sz="1500" dirty="0"/>
          </a:p>
          <a:p>
            <a:pPr marL="342900" indent="-342900">
              <a:spcAft>
                <a:spcPts val="600"/>
              </a:spcAft>
              <a:buSzPct val="100000"/>
              <a:buFont typeface="+mj-lt"/>
              <a:buAutoNum type="arabicPeriod" startAt="1"/>
            </a:pPr>
            <a:r>
              <a:rPr lang="en-US" sz="1500" dirty="0">
                <a:solidFill>
                  <a:schemeClr val="tx1"/>
                </a:solidFill>
              </a:rPr>
              <a:t>Counted sector by sector, it grows 33%, and only $480–490B of it reaches the owners.</a:t>
            </a:r>
            <a:endParaRPr lang="en-US" sz="1500" dirty="0"/>
          </a:p>
          <a:p>
            <a:pPr marL="342900" indent="-342900">
              <a:spcAft>
                <a:spcPts val="600"/>
              </a:spcAft>
              <a:buSzPct val="100000"/>
              <a:buFont typeface="+mj-lt"/>
              <a:buAutoNum type="arabicPeriod" startAt="1"/>
            </a:pPr>
            <a:r>
              <a:rPr lang="en-US" sz="1500" dirty="0">
                <a:solidFill>
                  <a:schemeClr val="tx1"/>
                </a:solidFill>
              </a:rPr>
              <a:t>The gap is $255B a year in 2030, more under the street's path, and 2027–28 is already lost.</a:t>
            </a:r>
            <a:endParaRPr lang="en-US" sz="1500" dirty="0"/>
          </a:p>
          <a:p>
            <a:pPr marL="342900" indent="-342900">
              <a:spcAft>
                <a:spcPts val="600"/>
              </a:spcAft>
              <a:buSzPct val="100000"/>
              <a:buFont typeface="+mj-lt"/>
              <a:buAutoNum type="arabicPeriod" startAt="1"/>
            </a:pPr>
            <a:r>
              <a:rPr lang="en-US" sz="1500" dirty="0">
                <a:solidFill>
                  <a:schemeClr val="tx1"/>
                </a:solidFill>
              </a:rPr>
              <a:t>Watch 2027 and 2028 revenue: above $400B in 2028, the most likely outcome was wrong.</a:t>
            </a:r>
            <a:endParaRPr lang="en-US" sz="1500" dirty="0"/>
          </a:p>
        </p:txBody>
      </p:sp>
      <p:sp>
        <p:nvSpPr>
          <p:cNvPr id="6" name="Text 4"/>
          <p:cNvSpPr txBox="1"/>
          <p:nvPr/>
        </p:nvSpPr>
        <p:spPr>
          <a:xfrm>
            <a:off x="6949440" y="1554480"/>
            <a:ext cx="4663440" cy="365760"/>
          </a:xfrm>
          <a:prstGeom prst="rect">
            <a:avLst/>
          </a:prstGeom>
          <a:noFill/>
          <a:ln/>
        </p:spPr>
        <p:txBody>
          <a:bodyPr wrap="square" lIns="0" tIns="0" rIns="0" bIns="0" rtlCol="0" anchor="t"/>
          <a:lstStyle/>
          <a:p>
            <a:pPr indent="0" marL="0">
              <a:spcAft>
                <a:spcPts val="600"/>
              </a:spcAft>
              <a:buNone/>
            </a:pPr>
            <a:r>
              <a:rPr lang="en-US" sz="1600" b="1" dirty="0">
                <a:solidFill>
                  <a:schemeClr val="tx1"/>
                </a:solidFill>
              </a:rPr>
              <a:t>Every number is yours to challenge</a:t>
            </a:r>
            <a:endParaRPr lang="en-US" sz="1600" dirty="0"/>
          </a:p>
        </p:txBody>
      </p:sp>
      <p:sp>
        <p:nvSpPr>
          <p:cNvPr id="7" name="Text 5"/>
          <p:cNvSpPr txBox="1"/>
          <p:nvPr/>
        </p:nvSpPr>
        <p:spPr>
          <a:xfrm>
            <a:off x="6949440" y="2011680"/>
            <a:ext cx="4663440" cy="384048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The paper, the model, the data and the register of inputs — each with its evidence, its range and what would improve it — are public. Change an input, run one script, and the paper's numbers and charts regenerate; the script says whether the change is minor or forces a re-issue.</a:t>
            </a:r>
            <a:endParaRPr lang="en-US" sz="1300" dirty="0"/>
          </a:p>
          <a:p>
            <a:pPr indent="0" marL="0">
              <a:spcAft>
                <a:spcPts val="600"/>
              </a:spcAft>
              <a:buNone/>
            </a:pPr>
            <a:endParaRPr lang="en-US" sz="1300" dirty="0"/>
          </a:p>
          <a:p>
            <a:pPr indent="0" marL="0">
              <a:spcAft>
                <a:spcPts val="600"/>
              </a:spcAft>
              <a:buNone/>
            </a:pPr>
            <a:r>
              <a:rPr lang="en-US" sz="1300" dirty="0">
                <a:solidFill>
                  <a:schemeClr val="tx1"/>
                </a:solidFill>
              </a:rPr>
              <a:t>Paper and bundle: doi.org/10.5281/zenodo.23406476</a:t>
            </a:r>
            <a:endParaRPr lang="en-US" sz="1300" dirty="0"/>
          </a:p>
          <a:p>
            <a:pPr indent="0" marL="0">
              <a:spcAft>
                <a:spcPts val="600"/>
              </a:spcAft>
              <a:buNone/>
            </a:pPr>
            <a:r>
              <a:rPr lang="en-US" sz="1300" dirty="0">
                <a:solidFill>
                  <a:schemeClr val="tx1"/>
                </a:solidFill>
              </a:rPr>
              <a:t>Model and register: the GitHub repository named in the paper</a:t>
            </a:r>
            <a:endParaRPr lang="en-US" sz="1300" dirty="0"/>
          </a:p>
          <a:p>
            <a:pPr indent="0" marL="0">
              <a:spcAft>
                <a:spcPts val="600"/>
              </a:spcAft>
              <a:buNone/>
            </a:pPr>
            <a:r>
              <a:rPr lang="en-US" sz="1300" dirty="0">
                <a:solidFill>
                  <a:schemeClr val="tx1"/>
                </a:solidFill>
              </a:rPr>
              <a:t>Comments: desmond.fitzpatrick@nvara.ai</a:t>
            </a:r>
            <a:endParaRPr lang="en-US" sz="1300" dirty="0"/>
          </a:p>
        </p:txBody>
      </p:sp>
      <p:sp>
        <p:nvSpPr>
          <p:cNvPr id="8" name="Text 6"/>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00" dirty="0">
                <a:solidFill>
                  <a:schemeClr val="accent3"/>
                </a:solidFill>
              </a:rPr>
              <a:t>Figures are the paper's own; no number here is newer than the paper's register.</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C8C8C"/>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lassic Navy">
  <a:themeElements>
    <a:clrScheme name="Classic Navy">
      <a:dk1>
        <a:srgbClr val="1F1F1F"/>
      </a:dk1>
      <a:lt1>
        <a:srgbClr val="FFFFFF"/>
      </a:lt1>
      <a:dk2>
        <a:srgbClr val="1E2761"/>
      </a:dk2>
      <a:lt2>
        <a:srgbClr val="F3F5F9"/>
      </a:lt2>
      <a:accent1>
        <a:srgbClr val="1E2761"/>
      </a:accent1>
      <a:accent2>
        <a:srgbClr val="4A6FA5"/>
      </a:accent2>
      <a:accent3>
        <a:srgbClr val="8C8C8C"/>
      </a:accent3>
      <a:accent4>
        <a:srgbClr val="B85042"/>
      </a:accent4>
      <a:accent5>
        <a:srgbClr val="6B7B8C"/>
      </a:accent5>
      <a:accent6>
        <a:srgbClr val="C9D3E3"/>
      </a:accent6>
      <a:hlink>
        <a:srgbClr val="1E2761"/>
      </a:hlink>
      <a:folHlink>
        <a:srgbClr val="4A6FA5"/>
      </a:folHlink>
    </a:clrScheme>
    <a:fontScheme name="Classic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 the AI build-out pay for itself?</dc:title>
  <dc:subject>PptxGenJS Presentation</dc:subject>
  <dc:creator>Desmond Fitzpatrick</dc:creator>
  <cp:lastModifiedBy>Desmond Fitzpatrick</cp:lastModifiedBy>
  <cp:revision>1</cp:revision>
  <dcterms:created xsi:type="dcterms:W3CDTF">2026-10-16T00:32:27Z</dcterms:created>
  <dcterms:modified xsi:type="dcterms:W3CDTF">2026-10-16T00:32:27Z</dcterms:modified>
</cp:coreProperties>
</file>